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aven_adu_render_17882881664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303520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37160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S2A MODULAR • HAAS PORTFOLIO</a:t>
            </a:r>
          </a:p>
          <a:p>
            <a:pPr>
              <a:spcBef>
                <a:spcPts val="1200"/>
              </a:spcBef>
              <a:defRPr sz="3000" b="1">
                <a:solidFill>
                  <a:srgbClr val="FFFFFF"/>
                </a:solidFill>
              </a:defRPr>
            </a:pPr>
            <a:r>
              <a:t>Next-Gen Modular ADU &amp;</a:t>
            </a:r>
            <a:br/>
            <a:r>
              <a:t>Tiny Home Collection</a:t>
            </a:r>
          </a:p>
          <a:p>
            <a:pPr>
              <a:spcBef>
                <a:spcPts val="1400"/>
              </a:spcBef>
              <a:defRPr sz="1300">
                <a:solidFill>
                  <a:srgbClr val="DBEAFE"/>
                </a:solidFill>
              </a:defRPr>
            </a:pPr>
            <a:r>
              <a:t>A Complete Architectural &amp; Housing-as-a-Service (HaaS) Turnkey Revenue Suite: Haven, Harmony, Sierra, Meadow &amp; Cascade.</a:t>
            </a:r>
          </a:p>
          <a:p>
            <a:pPr>
              <a:spcBef>
                <a:spcPts val="1600"/>
              </a:spcBef>
              <a:defRPr sz="1100">
                <a:solidFill>
                  <a:srgbClr val="16A34A"/>
                </a:solidFill>
              </a:defRPr>
            </a:pPr>
            <a:r>
              <a:t>Zero Upfront Capital • Passive Homeowner Revenue • Turnkey Operator Delivery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HOUSING-AS-A-SERVICE (HAAS)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Zero-CapEx Turnkey Backyard Revenue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47472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1. Homeowner Benefit</a:t>
            </a:r>
          </a:p>
          <a:p>
            <a:pPr>
              <a:spcBef>
                <a:spcPts val="800"/>
              </a:spcBef>
              <a:defRPr sz="1600" b="1">
                <a:solidFill>
                  <a:srgbClr val="2563EB"/>
                </a:solidFill>
              </a:defRPr>
            </a:pPr>
            <a:r>
              <a:t>$500 – $1,000 / Mo Net</a:t>
            </a:r>
          </a:p>
          <a:p>
            <a:pPr>
              <a:spcBef>
                <a:spcPts val="1200"/>
              </a:spcBef>
              <a:defRPr sz="1100">
                <a:solidFill>
                  <a:srgbClr val="64748B"/>
                </a:solidFill>
              </a:defRPr>
            </a:pPr>
            <a:r>
              <a:t>Homeowners license unused backyard space for zero upfront cost. Operator funds permitting, foundation, unit fabrication, crane installation, and tenant management.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71600"/>
            <a:ext cx="347472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554480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2. Operator Economics</a:t>
            </a:r>
          </a:p>
          <a:p>
            <a:pPr>
              <a:spcBef>
                <a:spcPts val="800"/>
              </a:spcBef>
              <a:defRPr sz="1600" b="1">
                <a:solidFill>
                  <a:srgbClr val="16A34A"/>
                </a:solidFill>
              </a:defRPr>
            </a:pPr>
            <a:r>
              <a:t>$1,500 – $2,200 / Mo Net Yield</a:t>
            </a:r>
          </a:p>
          <a:p>
            <a:pPr>
              <a:spcBef>
                <a:spcPts val="1200"/>
              </a:spcBef>
              <a:defRPr sz="1100">
                <a:solidFill>
                  <a:srgbClr val="64748B"/>
                </a:solidFill>
              </a:defRPr>
            </a:pPr>
            <a:r>
              <a:t>High-ADR mid-term corporate executive, traveling medical, and high-quality long-term tenant placement yields 18–24 month capital payback per installation.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371600"/>
            <a:ext cx="347472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1554480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3. Precision Modular Speed</a:t>
            </a:r>
          </a:p>
          <a:p>
            <a:pPr>
              <a:spcBef>
                <a:spcPts val="800"/>
              </a:spcBef>
              <a:defRPr sz="1600" b="1">
                <a:solidFill>
                  <a:srgbClr val="0F172A"/>
                </a:solidFill>
              </a:defRPr>
            </a:pPr>
            <a:r>
              <a:t>30-Day Delivery Timeline</a:t>
            </a:r>
          </a:p>
          <a:p>
            <a:pPr>
              <a:spcBef>
                <a:spcPts val="1200"/>
              </a:spcBef>
              <a:defRPr sz="1100">
                <a:solidFill>
                  <a:srgbClr val="64748B"/>
                </a:solidFill>
              </a:defRPr>
            </a:pPr>
            <a:r>
              <a:t>S2A factory-built offsite construction eliminates 90% of neighborhood disruption. Site utility trenching and crane set takes under 48 hours.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MODEL 01 • MODERN LUXURY ADU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Haven (14' × 29' • 350 Sq. Ft.)</a:t>
            </a:r>
          </a:p>
        </p:txBody>
      </p:sp>
      <p:pic>
        <p:nvPicPr>
          <p:cNvPr id="5" name="Picture 4" descr="haven_adu_render_17882881664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669280" cy="4937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280160"/>
            <a:ext cx="48463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137160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DIMENSIONS: 14' × 29'-0"  |  LIVING AREA: 350 Sq. Ft.</a:t>
            </a:r>
          </a:p>
          <a:p>
            <a:pPr>
              <a:spcBef>
                <a:spcPts val="400"/>
              </a:spcBef>
              <a:defRPr sz="1600" b="1">
                <a:solidFill>
                  <a:srgbClr val="16A34A"/>
                </a:solidFill>
              </a:defRPr>
            </a:pPr>
            <a:r>
              <a:t>Est. Monthly Rent: $2,200 – $2,950 / mo</a:t>
            </a:r>
          </a:p>
          <a:p>
            <a:pPr>
              <a:defRPr sz="1300" b="1">
                <a:solidFill>
                  <a:srgbClr val="0F172A"/>
                </a:solidFill>
              </a:defRPr>
            </a:pPr>
            <a:r>
              <a:t>Homeowner Passive Net: $650 – $950 / mo</a:t>
            </a:r>
          </a:p>
          <a:p>
            <a:pPr>
              <a:spcBef>
                <a:spcPts val="1000"/>
              </a:spcBef>
              <a:defRPr sz="1150" b="1">
                <a:solidFill>
                  <a:srgbClr val="1E293B"/>
                </a:solidFill>
              </a:defRPr>
            </a:pPr>
            <a:r>
              <a:t>Architectural &amp; Blueprint Highlights: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Full rooftop sky lounge deck with spiral staircase access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4'-0" integrated covered front porch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Open kitchenette &amp; living room with roof skylight access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Private bedroom with double wardrobe closet &amp; full bathroom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Large sliding glass patio doors for indoor-outdoor flow</a:t>
            </a:r>
          </a:p>
          <a:p>
            <a:pPr>
              <a:spcBef>
                <a:spcPts val="1000"/>
              </a:spcBef>
              <a:defRPr sz="1000" b="1">
                <a:solidFill>
                  <a:srgbClr val="2563EB"/>
                </a:solidFill>
              </a:defRPr>
            </a:pPr>
            <a:r>
              <a:t>Ideal Placement: Upscale suburban backyards, premium view lots, executive retreats.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MODEL 02 • MODERN CRAFTSMAN COTTAGE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Harmony (14' × 24' • 348 Sq. Ft.)</a:t>
            </a:r>
          </a:p>
        </p:txBody>
      </p:sp>
      <p:pic>
        <p:nvPicPr>
          <p:cNvPr id="5" name="Picture 4" descr="harmony_cottage_render_178828855116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669280" cy="4937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280160"/>
            <a:ext cx="48463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137160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DIMENSIONS: 14' × 24'-0"  |  LIVING AREA: 348 Sq. Ft.</a:t>
            </a:r>
          </a:p>
          <a:p>
            <a:pPr>
              <a:spcBef>
                <a:spcPts val="400"/>
              </a:spcBef>
              <a:defRPr sz="1600" b="1">
                <a:solidFill>
                  <a:srgbClr val="16A34A"/>
                </a:solidFill>
              </a:defRPr>
            </a:pPr>
            <a:r>
              <a:t>Est. Monthly Rent: $1,850 – $2,350 / mo</a:t>
            </a:r>
          </a:p>
          <a:p>
            <a:pPr>
              <a:defRPr sz="1300" b="1">
                <a:solidFill>
                  <a:srgbClr val="0F172A"/>
                </a:solidFill>
              </a:defRPr>
            </a:pPr>
            <a:r>
              <a:t>Homeowner Passive Net: $550 – $800 / mo</a:t>
            </a:r>
          </a:p>
          <a:p>
            <a:pPr>
              <a:spcBef>
                <a:spcPts val="1000"/>
              </a:spcBef>
              <a:defRPr sz="1150" b="1">
                <a:solidFill>
                  <a:srgbClr val="1E293B"/>
                </a:solidFill>
              </a:defRPr>
            </a:pPr>
            <a:r>
              <a:t>Architectural &amp; Blueprint Highlights: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Classic pitched gabled roofline with architectural shingles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Welcoming covered front portico with artisan coach lights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Smart-lap horizontal white siding with black frame windows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Spacious Bed/Living open studio layout with full kitchen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Complete bathroom with 3-3060 shower and stack W/D</a:t>
            </a:r>
          </a:p>
          <a:p>
            <a:pPr>
              <a:spcBef>
                <a:spcPts val="1000"/>
              </a:spcBef>
              <a:defRPr sz="1000" b="1">
                <a:solidFill>
                  <a:srgbClr val="2563EB"/>
                </a:solidFill>
              </a:defRPr>
            </a:pPr>
            <a:r>
              <a:t>Ideal Placement: Traditional HOA neighborhoods, in-law suites, historic districts.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MODEL 03 • MONO-PITCH SHED LOFT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Sierra (14' × 31'-6" • 420 Sq. Ft.)</a:t>
            </a:r>
          </a:p>
        </p:txBody>
      </p:sp>
      <p:pic>
        <p:nvPicPr>
          <p:cNvPr id="5" name="Picture 4" descr="sierra_loft_exterior_17882883323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669280" cy="4937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280160"/>
            <a:ext cx="48463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137160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DIMENSIONS: 14' × 31'-6"  |  LIVING AREA: 420 Sq. Ft.</a:t>
            </a:r>
          </a:p>
          <a:p>
            <a:pPr>
              <a:spcBef>
                <a:spcPts val="400"/>
              </a:spcBef>
              <a:defRPr sz="1600" b="1">
                <a:solidFill>
                  <a:srgbClr val="16A34A"/>
                </a:solidFill>
              </a:defRPr>
            </a:pPr>
            <a:r>
              <a:t>Est. Monthly Rent: $2,400 – $3,100 / mo</a:t>
            </a:r>
          </a:p>
          <a:p>
            <a:pPr>
              <a:defRPr sz="1300" b="1">
                <a:solidFill>
                  <a:srgbClr val="0F172A"/>
                </a:solidFill>
              </a:defRPr>
            </a:pPr>
            <a:r>
              <a:t>Homeowner Passive Net: $600 – $900 / mo</a:t>
            </a:r>
          </a:p>
          <a:p>
            <a:pPr>
              <a:spcBef>
                <a:spcPts val="1000"/>
              </a:spcBef>
              <a:defRPr sz="1150" b="1">
                <a:solidFill>
                  <a:srgbClr val="1E293B"/>
                </a:solidFill>
              </a:defRPr>
            </a:pPr>
            <a:r>
              <a:t>Architectural &amp; Blueprint Highlights: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Modern mono-pitch shed roofline with clerestory transoms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Vaulted Great Room with mezzanine sleeping loft above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Ground floor private bedroom with large closet &amp; egress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Board-and-batten dark charcoal siding with natural oak inlays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Front and rear entry decks with step lighting</a:t>
            </a:r>
          </a:p>
          <a:p>
            <a:pPr>
              <a:spcBef>
                <a:spcPts val="1000"/>
              </a:spcBef>
              <a:defRPr sz="1000" b="1">
                <a:solidFill>
                  <a:srgbClr val="2563EB"/>
                </a:solidFill>
              </a:defRPr>
            </a:pPr>
            <a:r>
              <a:t>Ideal Placement: Medium-to-large residential lots, remote tech professionals.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MODEL 04 • FLAGSHIP ROOFTOP TERRACE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Meadow (15' × 31'-9" • 435 Sq. Ft.)</a:t>
            </a:r>
          </a:p>
        </p:txBody>
      </p:sp>
      <p:pic>
        <p:nvPicPr>
          <p:cNvPr id="5" name="Picture 4" descr="meadow_rooftop_exterior_178828859625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669280" cy="4937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280160"/>
            <a:ext cx="48463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137160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DIMENSIONS: 15' × 31'-9"  |  LIVING AREA: 435 Sq. Ft.</a:t>
            </a:r>
          </a:p>
          <a:p>
            <a:pPr>
              <a:spcBef>
                <a:spcPts val="400"/>
              </a:spcBef>
              <a:defRPr sz="1600" b="1">
                <a:solidFill>
                  <a:srgbClr val="16A34A"/>
                </a:solidFill>
              </a:defRPr>
            </a:pPr>
            <a:r>
              <a:t>Est. Monthly Rent: $2,600 – $3,400 / mo</a:t>
            </a:r>
          </a:p>
          <a:p>
            <a:pPr>
              <a:defRPr sz="1300" b="1">
                <a:solidFill>
                  <a:srgbClr val="0F172A"/>
                </a:solidFill>
              </a:defRPr>
            </a:pPr>
            <a:r>
              <a:t>Homeowner Passive Net: $700 – $1,000 / mo</a:t>
            </a:r>
          </a:p>
          <a:p>
            <a:pPr>
              <a:spcBef>
                <a:spcPts val="1000"/>
              </a:spcBef>
              <a:defRPr sz="1150" b="1">
                <a:solidFill>
                  <a:srgbClr val="1E293B"/>
                </a:solidFill>
              </a:defRPr>
            </a:pPr>
            <a:r>
              <a:t>Architectural &amp; Blueprint Highlights: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Full-footprint rooftop sun terrace with slatted privacy railings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Exterior open staircase connecting yard directly to rooftop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Symmetrical front facade with flanked oversized black windows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Dual lofts (sleeping + storage/lounge) and plant ledge top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Full gourmet kitchen with dining peninsula and rear patio door</a:t>
            </a:r>
          </a:p>
          <a:p>
            <a:pPr>
              <a:spcBef>
                <a:spcPts val="1000"/>
              </a:spcBef>
              <a:defRPr sz="1000" b="1">
                <a:solidFill>
                  <a:srgbClr val="2563EB"/>
                </a:solidFill>
              </a:defRPr>
            </a:pPr>
            <a:r>
              <a:t>Ideal Placement: Wide suburban parcels (50'+ width), high-ADR luxury travel rentals.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MODEL 05 • ULTRA-COMPACT HIGH-YIELD INFILL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Cascade (12' × 27'-9" • 300 Sq. Ft.)</a:t>
            </a:r>
          </a:p>
        </p:txBody>
      </p:sp>
      <p:pic>
        <p:nvPicPr>
          <p:cNvPr id="5" name="Picture 4" descr="cascade_adu_render_178828878407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669280" cy="4937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280160"/>
            <a:ext cx="48463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137160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DIMENSIONS: 12' × 27'-9"  |  LIVING AREA: 300 Sq. Ft.</a:t>
            </a:r>
          </a:p>
          <a:p>
            <a:pPr>
              <a:spcBef>
                <a:spcPts val="400"/>
              </a:spcBef>
              <a:defRPr sz="1600" b="1">
                <a:solidFill>
                  <a:srgbClr val="16A34A"/>
                </a:solidFill>
              </a:defRPr>
            </a:pPr>
            <a:r>
              <a:t>Est. Monthly Rent: $1,650 – $2,100 / mo</a:t>
            </a:r>
          </a:p>
          <a:p>
            <a:pPr>
              <a:defRPr sz="1300" b="1">
                <a:solidFill>
                  <a:srgbClr val="0F172A"/>
                </a:solidFill>
              </a:defRPr>
            </a:pPr>
            <a:r>
              <a:t>Homeowner Passive Net: $500 – $750 / mo</a:t>
            </a:r>
          </a:p>
          <a:p>
            <a:pPr>
              <a:spcBef>
                <a:spcPts val="1000"/>
              </a:spcBef>
              <a:defRPr sz="1150" b="1">
                <a:solidFill>
                  <a:srgbClr val="1E293B"/>
                </a:solidFill>
              </a:defRPr>
            </a:pPr>
            <a:r>
              <a:t>Architectural &amp; Blueprint Highlights: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Slimline 12-foot exterior profile engineered for narrow lots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Industrial steel ship's ladder ascending to observation deck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Efficient open Living/Dining, Kitchenette, and Bath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Ground floor bedroom with upper loft overhead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Fits 95% of standard residential parcels without setback variance</a:t>
            </a:r>
          </a:p>
          <a:p>
            <a:pPr>
              <a:spcBef>
                <a:spcPts val="1000"/>
              </a:spcBef>
              <a:defRPr sz="1000" b="1">
                <a:solidFill>
                  <a:srgbClr val="2563EB"/>
                </a:solidFill>
              </a:defRPr>
            </a:pPr>
            <a:r>
              <a:t>Ideal Placement: Narrow side yards, urban infill parcels, maximum ROI density.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INTERIOR ARCHITECTURE &amp; FINISH STANDARDS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Scandinavian Modern Luxury &amp; Space Optimization</a:t>
            </a:r>
          </a:p>
        </p:txBody>
      </p:sp>
      <p:pic>
        <p:nvPicPr>
          <p:cNvPr id="5" name="Picture 4" descr="luxury_adu_interior_178828835305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669280" cy="4937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280160"/>
            <a:ext cx="48463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137160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PREMIUM FACTORY-FINISHED INTERIORS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Vaulted Timber Ceilings: Exposed natural wood trusses create expansive spatial volume.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Mezzanine Sleeping Lofts: Adds 100+ sq ft of functional bonus space for sleeping or storage.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Quartz Waterfall Kitchens: Durable quartz countertops, custom oak flat-panel cabinetry.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European Oak Hardwood: Waterproof luxury engineered plank flooring throughout.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Designer Bathrooms: Walk-in glass showers, floating vanities, matte black hardware.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Energy Efficiency: All-electric mini-split HVAC, smart thermostats, tankless hot water.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SEAMLESS INDOOR-OUTDOOR LIVING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Private Backyard Entertaining Patios &amp; Sun Decks</a:t>
            </a:r>
          </a:p>
        </p:txBody>
      </p:sp>
      <p:pic>
        <p:nvPicPr>
          <p:cNvPr id="5" name="Picture 4" descr="sierra_rear_patio_17882888023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669280" cy="4937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280160"/>
            <a:ext cx="48463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137160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ELEVATING THE BACKYARD EXPERIENCE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• Floor-to-Ceiling Sliders: Seamless transition between interior living room and private garden deck.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• Dedicated Outdoor Dining: Space for outdoor tables, lounge chairs, and BBQ entertaining.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• Integrated Step Lighting: Warm low-voltage LED pathway lighting for evening safety and ambiance.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• Privacy Screening: Architectural slat walls protect homeowner and tenant privacy.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• Minimal Yard Footprint: Leaves 60-70% of standard backyards open for landscaping and lawns.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PORTFOLIO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Comprehensive S2A Modular ADU Lineup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106984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  <a:gridCol w="1783080"/>
                <a:gridCol w="1783080"/>
                <a:gridCol w="1783080"/>
              </a:tblGrid>
              <a:tr h="7924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Dimensions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Living Area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Key Feature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Est. Rent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Homeowner Split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Cascade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12' × 27'-9"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300 sq. ft.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12' Slim Infill • Rooftop Ladder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$1,650 – $2,100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$500 – $750 / 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Harmony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14' × 24'-0"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348 sq. ft.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Pitched Roof • Covered Portico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$1,850 – $2,350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$550 – $800 / mo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Haven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14' × 29'-0"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350 sq. ft.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4' Porch • Rooftop Sky Lounge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$2,200 – $2,950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$650 – $950 / 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Sierra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14' × 31'-6"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420 sq. ft.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Mono-Pitch Shed • Clerestory Loft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$2,400 – $3,100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$600 – $900 / mo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Meadow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15' × 31'-9"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435 sq. ft.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Dual Lofts • Full Rooftop Terrace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$2,600 – $3,400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$700 – $1,000 / 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TURNKEY DELIVERY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From Site Audit to Monthly Cash Flow in 30–45 Days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6984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173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Day 1–5: Site Feasibility &amp; Digital Permit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GIS setback validation, utility hookup mapping, pre-approved architectural plan submission.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6984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Day 6–20: Offsite Factory Modular Build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Precision factory framing, plumbing, electrical, quartz counters, and paint under climate-controlled conditions.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40"/>
            <a:ext cx="106984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Day 21–25: Foundation &amp; Trenching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Helical pile / concrete pad foundation and underground sewer/power/water utility trenching in yard.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51960"/>
            <a:ext cx="106984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2976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Day 26–30: Crane Delivery &amp; Installation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Single-day crane lift over main house roofline, utility tie-in, and final city inspection sign-off.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212080"/>
            <a:ext cx="106984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257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Day 31+: Tenant Placement &amp; Revenue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Furnishing, professional photography, tenant onboarding, and automated monthly revenue-share payouts.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18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563EB"/>
                </a:solidFill>
              </a:defRPr>
            </a:pPr>
            <a:r>
              <a:t>UNLOCK YOUR BACKYARD'S PASSIVE INCOME</a:t>
            </a:r>
          </a:p>
          <a:p>
            <a:pPr algn="ctr">
              <a:spcBef>
                <a:spcPts val="1200"/>
              </a:spcBef>
              <a:defRPr sz="2800" b="1">
                <a:solidFill>
                  <a:srgbClr val="FFFFFF"/>
                </a:solidFill>
              </a:defRPr>
            </a:pPr>
            <a:r>
              <a:t>Get Your Free 48-Hour Site Feasibility &amp;</a:t>
            </a:r>
            <a:br/>
            <a:r>
              <a:t>Revenue-Share Audit</a:t>
            </a:r>
          </a:p>
          <a:p>
            <a:pPr algn="ctr">
              <a:spcBef>
                <a:spcPts val="1400"/>
              </a:spcBef>
              <a:defRPr sz="1300">
                <a:solidFill>
                  <a:srgbClr val="DBEAFE"/>
                </a:solidFill>
              </a:defRPr>
            </a:pPr>
            <a:r>
              <a:t>We assess your parcel geometry, local ADU zoning, utility trenching distances,</a:t>
            </a:r>
            <a:br/>
            <a:r>
              <a:t>and provide a guaranteed monthly passive income estimate.</a:t>
            </a:r>
          </a:p>
          <a:p>
            <a:pPr algn="ctr">
              <a:spcBef>
                <a:spcPts val="2000"/>
              </a:spcBef>
              <a:defRPr sz="1200" b="1">
                <a:solidFill>
                  <a:srgbClr val="16A34A"/>
                </a:solidFill>
              </a:defRPr>
            </a:pPr>
            <a:r>
              <a:t>S2A Modular • Housing-as-a-Service (HaaS) Solutions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