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av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S2A MODULAR • HAAS PORTFOLIO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Next-Gen Modular ADU &amp;</a:t>
            </a:r>
            <a:br/>
            <a:r>
              <a:t>Tiny Home Collection</a:t>
            </a:r>
          </a:p>
          <a:p>
            <a:pPr>
              <a:spcBef>
                <a:spcPts val="1400"/>
              </a:spcBef>
              <a:defRPr sz="1300">
                <a:solidFill>
                  <a:srgbClr val="DBEAFE"/>
                </a:solidFill>
              </a:defRPr>
            </a:pPr>
            <a:r>
              <a:t>Complete Architectural CAD Floorplans &amp; Turnkey Housing-as-a-Service (HaaS) Revenue Suite.</a:t>
            </a:r>
          </a:p>
          <a:p>
            <a:pPr>
              <a:spcBef>
                <a:spcPts val="1600"/>
              </a:spcBef>
              <a:defRPr sz="1100">
                <a:solidFill>
                  <a:srgbClr val="16A34A"/>
                </a:solidFill>
              </a:defRPr>
            </a:pPr>
            <a:r>
              <a:t>Zero Upfront Capital • Passive Homeowner Revenue • Turnkey Operator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HOUSING-AS-A-SERVICE (HAAS)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Zero-CapEx Turnkey Backyard Revenue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Homeowner Benefit</a:t>
            </a:r>
          </a:p>
          <a:p>
            <a:pPr>
              <a:spcBef>
                <a:spcPts val="800"/>
              </a:spcBef>
              <a:defRPr sz="1600" b="1">
                <a:solidFill>
                  <a:srgbClr val="2563EB"/>
                </a:solidFill>
              </a:defRPr>
            </a:pPr>
            <a:r>
              <a:t>$500 – $1,000 / Mo Net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Homeowners license unused backyard space for zero upfront cost. Operator funds permitting, foundation, unit fabrication, crane installation, and tenant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Operator Economics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$1,500 – $2,200 / Mo Net Yield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High-ADR mid-term corporate executive, traveling medical, and high-quality long-term tenant placement yields 18–24 month capital payback per installation.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Precision Modular Speed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</a:defRPr>
            </a:pPr>
            <a:r>
              <a:t>30-Day Delivery Timeline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S2A factory-built offsite construction eliminates 90% of neighborhood disruption. Site utility trenching and crane set takes under 48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01 • MODERN LUXURY ADU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Haven (14' × 29' • 350 Sq. Ft.)</a:t>
            </a:r>
          </a:p>
        </p:txBody>
      </p:sp>
      <p:pic>
        <p:nvPicPr>
          <p:cNvPr id="5" name="Picture 4" descr="hav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DIMENSIONS: 14' × 29'-0"  |  LIVING AREA: 350 Sq. Ft.</a:t>
            </a:r>
          </a:p>
          <a:p>
            <a:pPr>
              <a:spcBef>
                <a:spcPts val="400"/>
              </a:spcBef>
              <a:defRPr sz="1600" b="1">
                <a:solidFill>
                  <a:srgbClr val="16A34A"/>
                </a:solidFill>
              </a:defRPr>
            </a:pPr>
            <a:r>
              <a:t>Est. Monthly Rent: $2,200 – $2,950 / mo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Homeowner Passive Net: $650 – $950 / mo</a:t>
            </a:r>
          </a:p>
          <a:p>
            <a:pPr>
              <a:spcBef>
                <a:spcPts val="1000"/>
              </a:spcBef>
              <a:defRPr sz="1150" b="1">
                <a:solidFill>
                  <a:srgbClr val="1E293B"/>
                </a:solidFill>
              </a:defRPr>
            </a:pPr>
            <a:r>
              <a:t>Architectural &amp; Blueprint Highlights: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Full rooftop sky lounge deck with spiral staircase access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4'-0" integrated covered front porch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Open kitchenette &amp; living room with roof skylight access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Private bedroom with double wardrobe closet &amp; full bathroom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Large sliding glass patio doors for indoor-outdoor flow</a:t>
            </a:r>
          </a:p>
          <a:p>
            <a:pPr>
              <a:spcBef>
                <a:spcPts val="1000"/>
              </a:spcBef>
              <a:defRPr sz="1000" b="1">
                <a:solidFill>
                  <a:srgbClr val="2563EB"/>
                </a:solidFill>
              </a:defRPr>
            </a:pPr>
            <a:r>
              <a:t>Ideal Placement: Upscale suburban backyards, premium view lots, executive retreats.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01 • ARCHITECTURAL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Haven Floorplan (14' × 29' • 350 Sq. Ft.)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oorplan_ha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03504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80160"/>
            <a:ext cx="4114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OFFICIAL CAD BLUEPRINT SPECIFICATIONS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Factory Framed &amp; State Approved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Covered Porch: 4'-0" integrated covered front entry porch with recessed downlights.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Great Room &amp; Kitchen: Open 14' wide living space with roof skylight access hatch.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Private Bedroom: Ground floor bedroom with dual 2442SH egress windows &amp; double closet.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Full Bathroom: 3-3060 shower, vanity, toilet, and dedicated stack washer/dryer.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Rooftop Deck: Optional rooftop terrace accessed via site-installed spiral stairs.</a:t>
            </a:r>
          </a:p>
          <a:p>
            <a:pPr>
              <a:spcBef>
                <a:spcPts val="1400"/>
              </a:spcBef>
              <a:defRPr sz="1000" b="1">
                <a:solidFill>
                  <a:srgbClr val="16A34A"/>
                </a:solidFill>
              </a:defRPr>
            </a:pPr>
            <a:r>
              <a:t>✓ Sealed Architectural Drawing Number A1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02 • MODERN CRAFTSMAN COTTAGE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Harmony (14' × 24' • 348 Sq. Ft.)</a:t>
            </a:r>
          </a:p>
        </p:txBody>
      </p:sp>
      <p:pic>
        <p:nvPicPr>
          <p:cNvPr id="5" name="Picture 4" descr="harmon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DIMENSIONS: 14' × 24'-0"  |  LIVING AREA: 348 Sq. Ft.</a:t>
            </a:r>
          </a:p>
          <a:p>
            <a:pPr>
              <a:spcBef>
                <a:spcPts val="400"/>
              </a:spcBef>
              <a:defRPr sz="1600" b="1">
                <a:solidFill>
                  <a:srgbClr val="16A34A"/>
                </a:solidFill>
              </a:defRPr>
            </a:pPr>
            <a:r>
              <a:t>Est. Monthly Rent: $1,850 – $2,350 / mo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Homeowner Passive Net: $550 – $800 / mo</a:t>
            </a:r>
          </a:p>
          <a:p>
            <a:pPr>
              <a:spcBef>
                <a:spcPts val="1000"/>
              </a:spcBef>
              <a:defRPr sz="1150" b="1">
                <a:solidFill>
                  <a:srgbClr val="1E293B"/>
                </a:solidFill>
              </a:defRPr>
            </a:pPr>
            <a:r>
              <a:t>Architectural &amp; Blueprint Highlights: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Classic pitched gabled roofline with architectural shingles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Welcoming covered front portico with artisan coach lights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Smart-lap horizontal white siding with black frame windows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Spacious Bed/Living open studio layout with full kitchen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Complete bathroom with 3-3060 shower and stack W/D</a:t>
            </a:r>
          </a:p>
          <a:p>
            <a:pPr>
              <a:spcBef>
                <a:spcPts val="1000"/>
              </a:spcBef>
              <a:defRPr sz="1000" b="1">
                <a:solidFill>
                  <a:srgbClr val="2563EB"/>
                </a:solidFill>
              </a:defRPr>
            </a:pPr>
            <a:r>
              <a:t>Ideal Placement: Traditional HOA neighborhoods, in-law suites, historic districts.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02 • ARCHITECTURAL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Harmony Floorplan (14' × 24' • 348 Sq. Ft.)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oorplan_harmo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03504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80160"/>
            <a:ext cx="4114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OFFICIAL CAD BLUEPRINT SPECIFICATIONS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Factory Framed &amp; State Approved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Bed/Living Suite: Large 14' × 12' open living/bedroom area with 3060SH windows.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Full Kitchen: Complete cooktop, sink, refrigerator, and pantry cabinet.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Full Bathroom: Enclosed private bath with 3-3060 fiberglass shower stall.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Laundry &amp; Storage: Built-in stackable W/D closet with 2/4 INT door.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Front Portico: Covered stoop with classic artisan architectural trim.</a:t>
            </a:r>
          </a:p>
          <a:p>
            <a:pPr>
              <a:spcBef>
                <a:spcPts val="1400"/>
              </a:spcBef>
              <a:defRPr sz="1000" b="1">
                <a:solidFill>
                  <a:srgbClr val="16A34A"/>
                </a:solidFill>
              </a:defRPr>
            </a:pPr>
            <a:r>
              <a:t>✓ Sealed Architectural Drawing Number A1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03 • MONO-PITCH SHED LOFT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Sierra (14' × 31'-6" • 420 Sq. Ft.)</a:t>
            </a:r>
          </a:p>
        </p:txBody>
      </p:sp>
      <p:pic>
        <p:nvPicPr>
          <p:cNvPr id="5" name="Picture 4" descr="sier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DIMENSIONS: 14' × 31'-6"  |  LIVING AREA: 420 Sq. Ft.</a:t>
            </a:r>
          </a:p>
          <a:p>
            <a:pPr>
              <a:spcBef>
                <a:spcPts val="400"/>
              </a:spcBef>
              <a:defRPr sz="1600" b="1">
                <a:solidFill>
                  <a:srgbClr val="16A34A"/>
                </a:solidFill>
              </a:defRPr>
            </a:pPr>
            <a:r>
              <a:t>Est. Monthly Rent: $2,400 – $3,100 / mo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Homeowner Passive Net: $600 – $900 / mo</a:t>
            </a:r>
          </a:p>
          <a:p>
            <a:pPr>
              <a:spcBef>
                <a:spcPts val="1000"/>
              </a:spcBef>
              <a:defRPr sz="1150" b="1">
                <a:solidFill>
                  <a:srgbClr val="1E293B"/>
                </a:solidFill>
              </a:defRPr>
            </a:pPr>
            <a:r>
              <a:t>Architectural &amp; Blueprint Highlights: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Modern mono-pitch shed roofline with clerestory transoms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Vaulted Great Room with mezzanine sleeping loft above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Ground floor private bedroom with large closet &amp; egress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Board-and-batten dark charcoal siding with natural oak inlays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Front and rear entry decks with step lighting</a:t>
            </a:r>
          </a:p>
          <a:p>
            <a:pPr>
              <a:spcBef>
                <a:spcPts val="1000"/>
              </a:spcBef>
              <a:defRPr sz="1000" b="1">
                <a:solidFill>
                  <a:srgbClr val="2563EB"/>
                </a:solidFill>
              </a:defRPr>
            </a:pPr>
            <a:r>
              <a:t>Ideal Placement: Medium-to-large residential lots, remote tech professionals.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03 • ARCHITECTURAL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Sierra Floorplan (14' × 31'-6" • 420 Sq. Ft.)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oorplan_sier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03504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80160"/>
            <a:ext cx="4114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OFFICIAL CAD BLUEPRINT SPECIFICATIONS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Factory Framed &amp; State Approved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Vaulted Great Room: Expansive 30'-0" span with double front sliding glass doors.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Mezzanine Loft: Upper sleeping/storage loft open to below with access ladder.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Private Bedroom: Ground floor rear bedroom with full closet and egress windows.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Full Kitchen &amp; Dining: Cooktop, prep island, sink, and high clerestory windows.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Outdoor Stoops: Dual front and rear site-built wooden entry stoops.</a:t>
            </a:r>
          </a:p>
          <a:p>
            <a:pPr>
              <a:spcBef>
                <a:spcPts val="1400"/>
              </a:spcBef>
              <a:defRPr sz="1000" b="1">
                <a:solidFill>
                  <a:srgbClr val="16A34A"/>
                </a:solidFill>
              </a:defRPr>
            </a:pPr>
            <a:r>
              <a:t>✓ Sealed Architectural Drawing Number A1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04 • FLAGSHIP ROOFTOP TERRACE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Meadow (15' × 31'-9" • 435 Sq. Ft.)</a:t>
            </a:r>
          </a:p>
        </p:txBody>
      </p:sp>
      <p:pic>
        <p:nvPicPr>
          <p:cNvPr id="5" name="Picture 4" descr="mead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DIMENSIONS: 15' × 31'-9"  |  LIVING AREA: 435 Sq. Ft.</a:t>
            </a:r>
          </a:p>
          <a:p>
            <a:pPr>
              <a:spcBef>
                <a:spcPts val="400"/>
              </a:spcBef>
              <a:defRPr sz="1600" b="1">
                <a:solidFill>
                  <a:srgbClr val="16A34A"/>
                </a:solidFill>
              </a:defRPr>
            </a:pPr>
            <a:r>
              <a:t>Est. Monthly Rent: $2,600 – $3,400 / mo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Homeowner Passive Net: $700 – $1,000 / mo</a:t>
            </a:r>
          </a:p>
          <a:p>
            <a:pPr>
              <a:spcBef>
                <a:spcPts val="1000"/>
              </a:spcBef>
              <a:defRPr sz="1150" b="1">
                <a:solidFill>
                  <a:srgbClr val="1E293B"/>
                </a:solidFill>
              </a:defRPr>
            </a:pPr>
            <a:r>
              <a:t>Architectural &amp; Blueprint Highlights: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Full-footprint rooftop sun terrace with slatted privacy railings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Exterior open staircase connecting yard directly to rooftop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Symmetrical front facade with flanked oversized black windows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Dual lofts (sleeping + storage/lounge) and plant ledge top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Full gourmet kitchen with dining peninsula and rear patio door</a:t>
            </a:r>
          </a:p>
          <a:p>
            <a:pPr>
              <a:spcBef>
                <a:spcPts val="1000"/>
              </a:spcBef>
              <a:defRPr sz="1000" b="1">
                <a:solidFill>
                  <a:srgbClr val="2563EB"/>
                </a:solidFill>
              </a:defRPr>
            </a:pPr>
            <a:r>
              <a:t>Ideal Placement: Wide suburban parcels (50'+ width), high-ADR luxury travel rentals.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04 • ARCHITECTURAL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Meadow Floorplan (15' × 31'-9" • 435 Sq. Ft.)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oorplan_me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03504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80160"/>
            <a:ext cx="4114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OFFICIAL CAD BLUEPRINT SPECIFICATIONS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Factory Framed &amp; State Approved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Dual Lofts: Dual mezzanine lofts (Loft 1 + Loft 2) with plant ledge top.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Exterior Staircase: 2'-9" exterior open stair ascending to full rooftop terrace.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Gourmet Kitchen: Central kitchen with peninsula dining &amp; 4836SL windows.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Private Suite: Private master bedroom with closet and stack W/D closet.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Rear Patio Egress: 6/0 Patio sliding door opening directly onto garden deck.</a:t>
            </a:r>
          </a:p>
          <a:p>
            <a:pPr>
              <a:spcBef>
                <a:spcPts val="1400"/>
              </a:spcBef>
              <a:defRPr sz="1000" b="1">
                <a:solidFill>
                  <a:srgbClr val="16A34A"/>
                </a:solidFill>
              </a:defRPr>
            </a:pPr>
            <a:r>
              <a:t>✓ Sealed Architectural Drawing Number A1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05 • ULTRA-COMPACT HIGH-YIELD INFILL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Cascade (12' × 27'-9" • 300 Sq. Ft.)</a:t>
            </a:r>
          </a:p>
        </p:txBody>
      </p:sp>
      <p:pic>
        <p:nvPicPr>
          <p:cNvPr id="5" name="Picture 4" descr="casc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DIMENSIONS: 12' × 27'-9"  |  LIVING AREA: 300 Sq. Ft.</a:t>
            </a:r>
          </a:p>
          <a:p>
            <a:pPr>
              <a:spcBef>
                <a:spcPts val="400"/>
              </a:spcBef>
              <a:defRPr sz="1600" b="1">
                <a:solidFill>
                  <a:srgbClr val="16A34A"/>
                </a:solidFill>
              </a:defRPr>
            </a:pPr>
            <a:r>
              <a:t>Est. Monthly Rent: $1,650 – $2,100 / mo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Homeowner Passive Net: $500 – $750 / mo</a:t>
            </a:r>
          </a:p>
          <a:p>
            <a:pPr>
              <a:spcBef>
                <a:spcPts val="1000"/>
              </a:spcBef>
              <a:defRPr sz="1150" b="1">
                <a:solidFill>
                  <a:srgbClr val="1E293B"/>
                </a:solidFill>
              </a:defRPr>
            </a:pPr>
            <a:r>
              <a:t>Architectural &amp; Blueprint Highlights: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Slimline 12-foot exterior profile engineered for narrow lots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Industrial steel ship's ladder ascending to observation deck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Efficient open Living/Dining, Kitchenette, and Bath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Ground floor bedroom with upper loft overhead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• Fits 95% of standard residential parcels without setback variance</a:t>
            </a:r>
          </a:p>
          <a:p>
            <a:pPr>
              <a:spcBef>
                <a:spcPts val="1000"/>
              </a:spcBef>
              <a:defRPr sz="1000" b="1">
                <a:solidFill>
                  <a:srgbClr val="2563EB"/>
                </a:solidFill>
              </a:defRPr>
            </a:pPr>
            <a:r>
              <a:t>Ideal Placement: Narrow side yards, urban infill parcels, maximum ROI density.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MODEL 05 • ARCHITECTURAL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Cascade Floorplan (12' × 27'-9" • 300 Sq. Ft.)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oorplan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03504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80160"/>
            <a:ext cx="4114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OFFICIAL CAD BLUEPRINT SPECIFICATIONS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Factory Framed &amp; State Approved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12' Slimline Footprint: 26'-0" main box length engineered for tight setbacks.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Ship's Ladder Access: 2'-9" side ship's ladder leading to rooftop observation deck.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Living/Dining &amp; Kitchenette: Efficient open plan with 4836SL window and linen storage.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Bedroom &amp; Loft: Private sleeping quarters with bonus overhead storage loft.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Rear Patio Door: 6/0 Patio sliding door for indoor-outdoor access.</a:t>
            </a:r>
          </a:p>
          <a:p>
            <a:pPr>
              <a:spcBef>
                <a:spcPts val="1400"/>
              </a:spcBef>
              <a:defRPr sz="1000" b="1">
                <a:solidFill>
                  <a:srgbClr val="16A34A"/>
                </a:solidFill>
              </a:defRPr>
            </a:pPr>
            <a:r>
              <a:t>✓ Sealed Architectural Drawing Number A1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INTERIOR ARCHITECTURE &amp; FINISH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Scandinavian Modern Luxury &amp; Space Optimization</a:t>
            </a:r>
          </a:p>
        </p:txBody>
      </p:sp>
      <p:pic>
        <p:nvPicPr>
          <p:cNvPr id="5" name="Picture 4" descr="haven_interi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PREMIUM FACTORY-FINISHED INTERIORS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Vaulted Timber Ceilings: Exposed natural wood trusses create expansive spatial volume.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Mezzanine Sleeping Lofts: Adds 100+ sq ft of functional bonus space for sleeping or storage.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Quartz Waterfall Kitchens: Durable quartz countertops, custom oak flat-panel cabinetry.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European Oak Hardwood: Waterproof luxury engineered plank flooring throughout.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Designer Bathrooms: Walk-in glass showers, floating vanities, matte black hardware.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Energy Efficiency: All-electric mini-split HVAC, smart thermostats, tankless hot water.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SEAMLESS INDOOR-OUTDOOR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Private Backyard Entertaining Patios &amp; Sun Decks</a:t>
            </a:r>
          </a:p>
        </p:txBody>
      </p:sp>
      <p:pic>
        <p:nvPicPr>
          <p:cNvPr id="5" name="Picture 4" descr="haven_pat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66928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280160"/>
            <a:ext cx="48463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ELEVATING THE BACKYARD EXPERIENCE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Floor-to-Ceiling Sliders: Seamless transition between interior living room and private garden deck.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Dedicated Outdoor Dining: Space for outdoor tables, lounge chairs, and BBQ entertaining.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Integrated Step Lighting: Warm low-voltage LED pathway lighting for evening safety and ambiance.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Privacy Screening: Architectural slat walls protect homeowner and tenant privacy.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Minimal Yard Footprint: Leaves 60-70% of standard backyards open for landscaping and lawns.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PORTFOLIO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Comprehensive S2A Modular ADU Lineup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Living Area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Blueprint 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Est. Rent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Homeowner Split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12' × 27'-9"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300 sq. ft.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12' Slim Infill • Rooftop Ladder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$1,650 – $2,100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$500 – $750 /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Harmony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14' × 24'-0"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348 sq. ft.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Pitched Roof • Covered Portico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$1,850 – $2,350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$550 – $800 / mo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Haven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14' × 29'-0"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350 sq. ft.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4' Porch • Rooftop Sky Lounge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$2,200 – $2,950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$650 – $950 /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Sierra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14' × 31'-6"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420 sq. ft.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Mono-Pitch Shed • Clerestory Loft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$2,400 – $3,100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$600 – $900 / mo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Meadow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15' × 31'-9"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435 sq. ft.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Dual Lofts • Full Rooftop 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$2,600 – $3,400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$700 – $1,000 / 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TURNKEY DELIVERY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From Site Audit to Monthly Cash Flow in 30–45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Day 1–5: Site Feasibility &amp; Digital Permit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GIS setback validation, utility hookup mapping, pre-approved architectural plan submission.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Day 6–20: Offsite Factory Modular Build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Precision factory framing, plumbing, electrical, quartz counters, and paint under climate-controlled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Day 21–25: Foundation &amp; Trenching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Helical pile / concrete pad foundation and underground sewer/power/water utility trenching in yard.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Day 26–30: Crane Delivery &amp; Installation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Single-day crane lift over main house roofline, utility tie-in, and final city inspection sign-off.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Day 31+: Tenant Placement &amp; Revenue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Furnishing, professional photography, tenant onboarding, and automated monthly revenue-share payouts.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UNLOCK YOUR BACKYARD'S PASSIVE INCOME</a:t>
            </a:r>
          </a:p>
          <a:p>
            <a:pPr algn="ctr"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Get Your Free 48-Hour Site Feasibility &amp;</a:t>
            </a:r>
            <a:br/>
            <a:r>
              <a:t>Revenue-Share Audit</a:t>
            </a:r>
          </a:p>
          <a:p>
            <a:pPr algn="ctr">
              <a:spcBef>
                <a:spcPts val="1400"/>
              </a:spcBef>
              <a:defRPr sz="1300">
                <a:solidFill>
                  <a:srgbClr val="DBEAFE"/>
                </a:solidFill>
              </a:defRPr>
            </a:pPr>
            <a:r>
              <a:t>We assess your parcel geometry, local ADU zoning, utility trenching distances,</a:t>
            </a:r>
            <a:br/>
            <a:r>
              <a:t>and provide a guaranteed monthly passive income estimate.</a:t>
            </a:r>
          </a:p>
          <a:p>
            <a:pPr algn="ctr">
              <a:spcBef>
                <a:spcPts val="2000"/>
              </a:spcBef>
              <a:defRPr sz="1200" b="1">
                <a:solidFill>
                  <a:srgbClr val="16A34A"/>
                </a:solidFill>
              </a:defRPr>
            </a:pPr>
            <a:r>
              <a:t>S2A Modular • Housing-as-a-Service (HaaS)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